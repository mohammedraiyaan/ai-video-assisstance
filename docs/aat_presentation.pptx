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6235D"/>
                </a:solidFill>
              </a:defRPr>
            </a:pPr>
            <a:r>
              <a:t>RAG for an AI Video Summarizer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AAT project | Timestamped transcription, retrieval, grounded generation, and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6235D"/>
                </a:solidFill>
              </a:defRPr>
            </a:pPr>
            <a:r>
              <a:t>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Input and audio extraction: YouTube URLs or local audio/video</a:t>
            </a:r>
          </a:p>
          <a:p>
            <a:pPr>
              <a:spcAft>
                <a:spcPts val="1300"/>
              </a:spcAft>
              <a:defRPr sz="2000"/>
            </a:pPr>
            <a:r>
              <a:t>Transcription: local Whisper for English; Sarvam for Hindi/Hinglish</a:t>
            </a:r>
          </a:p>
          <a:p>
            <a:pPr>
              <a:spcAft>
                <a:spcPts val="1300"/>
              </a:spcAft>
              <a:defRPr sz="2000"/>
            </a:pPr>
            <a:r>
              <a:t>Timestamp-aware chunking and transcript/vector caching</a:t>
            </a:r>
          </a:p>
          <a:p>
            <a:pPr>
              <a:spcAft>
                <a:spcPts val="1300"/>
              </a:spcAft>
              <a:defRPr sz="2000"/>
            </a:pPr>
            <a:r>
              <a:t>BM25 sparse index and HuggingFace + Chroma dense index</a:t>
            </a:r>
          </a:p>
          <a:p>
            <a:pPr>
              <a:spcAft>
                <a:spcPts val="1300"/>
              </a:spcAft>
              <a:defRPr sz="2000"/>
            </a:pPr>
            <a:r>
              <a:t>Hybrid RRF plus cross-encoder reranking</a:t>
            </a:r>
          </a:p>
          <a:p>
            <a:pPr>
              <a:spcAft>
                <a:spcPts val="1300"/>
              </a:spcAft>
              <a:defRPr sz="2000"/>
            </a:pPr>
            <a:r>
              <a:t>Mistral generation and judging; Streamlit UI with citations and Markdown export</a:t>
            </a:r>
          </a:p>
          <a:p>
            <a:pPr>
              <a:spcAft>
                <a:spcPts val="1300"/>
              </a:spcAft>
              <a:defRPr sz="2000"/>
            </a:pPr>
            <a:r>
              <a:t>Evaluation runner, CSV/PNG results, error analysis, and report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6235D"/>
                </a:solidFill>
              </a:defRPr>
            </a:pPr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1. Accept a YouTube URL or local media file.</a:t>
            </a:r>
          </a:p>
          <a:p>
            <a:pPr>
              <a:spcAft>
                <a:spcPts val="1300"/>
              </a:spcAft>
              <a:defRPr sz="2000"/>
            </a:pPr>
            <a:r>
              <a:t>2. Validate the source and extract/resample audio.</a:t>
            </a:r>
          </a:p>
          <a:p>
            <a:pPr>
              <a:spcAft>
                <a:spcPts val="1300"/>
              </a:spcAft>
              <a:defRPr sz="2000"/>
            </a:pPr>
            <a:r>
              <a:t>3. Detect language and transcribe into timestamped segments.</a:t>
            </a:r>
          </a:p>
          <a:p>
            <a:pPr>
              <a:spcAft>
                <a:spcPts val="1300"/>
              </a:spcAft>
              <a:defRPr sz="2000"/>
            </a:pPr>
            <a:r>
              <a:t>4. Cache the transcript by source and language.</a:t>
            </a:r>
          </a:p>
          <a:p>
            <a:pPr>
              <a:spcAft>
                <a:spcPts val="1300"/>
              </a:spcAft>
              <a:defRPr sz="2000"/>
            </a:pPr>
            <a:r>
              <a:t>5. Create configurable, overlapping timestamp-aware chunks.</a:t>
            </a:r>
          </a:p>
          <a:p>
            <a:pPr>
              <a:spcAft>
                <a:spcPts val="1300"/>
              </a:spcAft>
              <a:defRPr sz="2000"/>
            </a:pPr>
            <a:r>
              <a:t>6. Embed/index chunks for sparse and/or dense retrieval.</a:t>
            </a:r>
          </a:p>
          <a:p>
            <a:pPr>
              <a:spcAft>
                <a:spcPts val="1300"/>
              </a:spcAft>
              <a:defRPr sz="2000"/>
            </a:pPr>
            <a:r>
              <a:t>7. Retrieve with baseline, BM25, dense, or hybrid RRF + reranking.</a:t>
            </a:r>
          </a:p>
          <a:p>
            <a:pPr>
              <a:spcAft>
                <a:spcPts val="1300"/>
              </a:spcAft>
              <a:defRPr sz="2000"/>
            </a:pPr>
            <a:r>
              <a:t>8. Generate a summary or grounded answer with clickable citations.</a:t>
            </a:r>
          </a:p>
          <a:p>
            <a:pPr>
              <a:spcAft>
                <a:spcPts val="1300"/>
              </a:spcAft>
              <a:defRPr sz="2000"/>
            </a:pPr>
            <a:r>
              <a:t>9. Record evaluation metrics and present results in the app/report.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6235D"/>
                </a:solidFill>
              </a:defRPr>
            </a:pPr>
            <a:r>
              <a:t>Approaches compared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5029200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Trade-off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Bounded full 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Simple reference; large context and truncation risk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Sparse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BM25 lexical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Fast; weak on paraphrase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HuggingFace embeddings + Chroma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Semantic matching; embedding/index cost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BM25 + dense RRF + cross-encoder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More compute/latency; combines lexical and semantic signals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6235D"/>
                </a:solidFill>
              </a:defRPr>
            </a:pPr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Retrieval: Recall@3, Recall@5, MRR, hit rate</a:t>
            </a:r>
          </a:p>
          <a:p>
            <a:pPr>
              <a:spcAft>
                <a:spcPts val="1300"/>
              </a:spcAft>
              <a:defRPr sz="2000"/>
            </a:pPr>
            <a:r>
              <a:t>Answer quality: Mistral-judged faithfulness/relevance, ROUGE-L, BERTScore</a:t>
            </a:r>
          </a:p>
          <a:p>
            <a:pPr>
              <a:spcAft>
                <a:spcPts val="1300"/>
              </a:spcAft>
              <a:defRPr sz="2000"/>
            </a:pPr>
            <a:r>
              <a:t>Summary quality: reference ROUGE-L/BERTScore when supplied; compression ratio</a:t>
            </a:r>
          </a:p>
          <a:p>
            <a:pPr>
              <a:spcAft>
                <a:spcPts val="1300"/>
              </a:spcAft>
              <a:defRPr sz="2000"/>
            </a:pPr>
            <a:r>
              <a:t>System: end-to-end query latency, transcription time, estimated tokens and configured-rate cost</a:t>
            </a:r>
          </a:p>
          <a:p>
            <a:pPr>
              <a:spcAft>
                <a:spcPts val="1300"/>
              </a:spcAft>
              <a:defRPr sz="2000"/>
            </a:pPr>
            <a:r>
              <a:t>Ablation: dense retrieval with chunk sizes 256/512/1024 and overlap 0/64</a:t>
            </a:r>
          </a:p>
          <a:p>
            <a:pPr>
              <a:spcAft>
                <a:spcPts val="1300"/>
              </a:spcAft>
              <a:defRPr sz="2000"/>
            </a:pPr>
            <a:r>
              <a:t>No scores are shown until the evaluation is run with real videos and reviewed 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6235D"/>
                </a:solidFill>
              </a:defRPr>
            </a:pPr>
            <a:r>
              <a:t>Four planned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English lecture — replace placeholder in videos.yaml</a:t>
            </a:r>
          </a:p>
          <a:p>
            <a:pPr>
              <a:spcAft>
                <a:spcPts val="1300"/>
              </a:spcAft>
              <a:defRPr sz="2000"/>
            </a:pPr>
            <a:r>
              <a:t>Hindi or Hinglish talk — replace placeholder in videos.yaml</a:t>
            </a:r>
          </a:p>
          <a:p>
            <a:pPr>
              <a:spcAft>
                <a:spcPts val="1300"/>
              </a:spcAft>
              <a:defRPr sz="2000"/>
            </a:pPr>
            <a:r>
              <a:t>Short video under five minutes — replace placeholder in videos.yaml</a:t>
            </a:r>
          </a:p>
          <a:p>
            <a:pPr>
              <a:spcAft>
                <a:spcPts val="1300"/>
              </a:spcAft>
              <a:defRPr sz="2000"/>
            </a:pPr>
            <a:r>
              <a:t>Long video over 30 minutes or noisy audio — replace placeholder in videos.yaml</a:t>
            </a:r>
          </a:p>
          <a:p>
            <a:pPr>
              <a:spcAft>
                <a:spcPts val="1300"/>
              </a:spcAft>
              <a:defRPr sz="2000"/>
            </a:pPr>
            <a:r>
              <a:t>Hand-edit generated evaluation/data/&lt;video_id&gt;_qa.json references before reporting scores.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36235D"/>
                </a:solidFill>
              </a:defRPr>
            </a:pPr>
            <a:r>
              <a:t>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No measured result file is available.</a:t>
            </a:r>
          </a:p>
          <a:p>
            <a:pPr>
              <a:spcAft>
                <a:spcPts val="1300"/>
              </a:spcAft>
              <a:defRPr sz="2000"/>
            </a:pPr>
            <a:r>
              <a:t>Run python -m evaluation.run_all --videos videos.yaml after replacing placeholders and configuring .env.</a:t>
            </a:r>
          </a:p>
          <a:p>
            <a:pPr>
              <a:spcAft>
                <a:spcPts val="1300"/>
              </a:spcAft>
              <a:defRPr sz="2000"/>
            </a:pPr>
            <a:r>
              <a:t>The evaluation runner regenerates this slide deck from results/results.csv.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